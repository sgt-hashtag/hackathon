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Roboto Medium"/>
      <p:regular r:id="rId22"/>
      <p:bold r:id="rId23"/>
      <p:italic r:id="rId24"/>
      <p:boldItalic r:id="rId25"/>
    </p:embeddedFont>
    <p:embeddedFont>
      <p:font typeface="Ultra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RobotoMedium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RobotoMedium-italic.fntdata"/><Relationship Id="rId23" Type="http://schemas.openxmlformats.org/officeDocument/2006/relationships/font" Target="fonts/Roboto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Ultra-regular.fntdata"/><Relationship Id="rId25" Type="http://schemas.openxmlformats.org/officeDocument/2006/relationships/font" Target="fonts/Roboto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5927ef4b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5927ef4b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5927ef4b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6mh2c78in0Flz3LvT7fu76Rr0uZ6-9Bl/view" TargetMode="External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jp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083742" y="2329168"/>
            <a:ext cx="8270700" cy="10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7200">
                <a:solidFill>
                  <a:srgbClr val="0CA65D"/>
                </a:solidFill>
                <a:latin typeface="Ultra"/>
                <a:ea typeface="Ultra"/>
                <a:cs typeface="Ultra"/>
                <a:sym typeface="Ultra"/>
              </a:rPr>
              <a:t>We make</a:t>
            </a:r>
            <a:endParaRPr i="1" sz="7200">
              <a:solidFill>
                <a:srgbClr val="0CA65D"/>
              </a:solidFill>
              <a:latin typeface="Ultra"/>
              <a:ea typeface="Ultra"/>
              <a:cs typeface="Ultra"/>
              <a:sym typeface="Ultra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2" name="Google Shape;92;p15"/>
          <p:cNvSpPr txBox="1"/>
          <p:nvPr/>
        </p:nvSpPr>
        <p:spPr>
          <a:xfrm>
            <a:off x="1254450" y="3285850"/>
            <a:ext cx="66351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5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policy shaped</a:t>
            </a:r>
            <a:br>
              <a:rPr lang="en-US" sz="35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</a:br>
            <a:r>
              <a:rPr lang="en-US" sz="35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by </a:t>
            </a:r>
            <a:r>
              <a:rPr lang="en-US" sz="3500">
                <a:solidFill>
                  <a:srgbClr val="F2BB16"/>
                </a:solidFill>
                <a:latin typeface="Ultra"/>
                <a:ea typeface="Ultra"/>
                <a:cs typeface="Ultra"/>
                <a:sym typeface="Ultra"/>
              </a:rPr>
              <a:t>early dialogue.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150" y="0"/>
            <a:ext cx="121917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 rotWithShape="1">
          <a:blip r:embed="rId3">
            <a:alphaModFix/>
          </a:blip>
          <a:srcRect b="0" l="0" r="0" t="9116"/>
          <a:stretch/>
        </p:blipFill>
        <p:spPr>
          <a:xfrm>
            <a:off x="2290750" y="1126338"/>
            <a:ext cx="7610475" cy="460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159" y="0"/>
            <a:ext cx="121917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838047" y="739724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The problem</a:t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1158087" y="5269150"/>
            <a:ext cx="292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4632907" y="5269150"/>
            <a:ext cx="292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Budget 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7884802" y="5269150"/>
            <a:ext cx="292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Frustrations</a:t>
            </a:r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988" y="2609450"/>
            <a:ext cx="8991376" cy="23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914400" y="2428392"/>
            <a:ext cx="10362900" cy="33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300">
                <a:solidFill>
                  <a:srgbClr val="0AA65D"/>
                </a:solidFill>
                <a:latin typeface="Ultra"/>
                <a:ea typeface="Ultra"/>
                <a:cs typeface="Ultra"/>
                <a:sym typeface="Ultra"/>
              </a:rPr>
              <a:t>&lt;</a:t>
            </a:r>
            <a:r>
              <a:rPr b="1" i="0" lang="en-US" sz="17300" u="none" cap="none" strike="noStrike">
                <a:solidFill>
                  <a:srgbClr val="0AA65D"/>
                </a:solidFill>
                <a:latin typeface="Ultra"/>
                <a:ea typeface="Ultra"/>
                <a:cs typeface="Ultra"/>
                <a:sym typeface="Ultra"/>
              </a:rPr>
              <a:t>0.01%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3046858" y="1962616"/>
            <a:ext cx="60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EU Consultation participation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541910" y="3139650"/>
            <a:ext cx="105156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800" u="none" cap="none" strike="noStrike">
                <a:solidFill>
                  <a:srgbClr val="404040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if</a:t>
            </a:r>
            <a:r>
              <a:rPr b="0" i="0" lang="en-US" sz="38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b="0" i="0" lang="en-US" sz="3800" u="none" cap="none" strike="noStrike">
                <a:solidFill>
                  <a:srgbClr val="D94A3D"/>
                </a:solidFill>
                <a:latin typeface="Ultra"/>
                <a:ea typeface="Ultra"/>
                <a:cs typeface="Ultra"/>
                <a:sym typeface="Ultra"/>
              </a:rPr>
              <a:t>participation</a:t>
            </a:r>
            <a:r>
              <a:rPr b="0" i="0" lang="en-US" sz="38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endParaRPr b="0" i="0" sz="3800" u="none" cap="none" strike="noStrike">
              <a:solidFill>
                <a:srgbClr val="404040"/>
              </a:solidFill>
              <a:latin typeface="Ultra"/>
              <a:ea typeface="Ultra"/>
              <a:cs typeface="Ultra"/>
              <a:sym typeface="Ultra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800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came</a:t>
            </a:r>
            <a:r>
              <a:rPr b="0" i="1" lang="en-US" sz="3800" u="none" cap="none" strike="noStrike">
                <a:solidFill>
                  <a:srgbClr val="0AA65D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b="0" i="1" lang="en-US" sz="3800" u="none" cap="none" strike="noStrike">
                <a:solidFill>
                  <a:srgbClr val="F2BB16"/>
                </a:solidFill>
                <a:latin typeface="Ultra"/>
                <a:ea typeface="Ultra"/>
                <a:cs typeface="Ultra"/>
                <a:sym typeface="Ultra"/>
              </a:rPr>
              <a:t>directly</a:t>
            </a:r>
            <a:r>
              <a:rPr b="0" i="1" lang="en-US" sz="3800" u="none" cap="none" strike="noStrike">
                <a:solidFill>
                  <a:srgbClr val="0AA65D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i="1" lang="en-US" sz="3800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b="0" i="1" lang="en-US" sz="38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b="0" i="1" lang="en-US" sz="3800" u="none" cap="none" strike="noStrike">
                <a:solidFill>
                  <a:srgbClr val="0AA65D"/>
                </a:solidFill>
                <a:latin typeface="Ultra"/>
                <a:ea typeface="Ultra"/>
                <a:cs typeface="Ultra"/>
                <a:sym typeface="Ultra"/>
              </a:rPr>
              <a:t>early?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6527" y="875825"/>
            <a:ext cx="7658952" cy="53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1420459" y="1316950"/>
            <a:ext cx="1215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Gov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609600" y="457199"/>
            <a:ext cx="10972800" cy="938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Choosing a diverse group</a:t>
            </a:r>
            <a:endParaRPr i="0" sz="2800" u="none" cap="none" strike="noStrike">
              <a:solidFill>
                <a:srgbClr val="000000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3410075" y="2282678"/>
            <a:ext cx="97500" cy="2438400"/>
          </a:xfrm>
          <a:prstGeom prst="rect">
            <a:avLst/>
          </a:prstGeom>
          <a:solidFill>
            <a:srgbClr val="0AA65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3653915" y="2465558"/>
            <a:ext cx="2218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AA65D"/>
                </a:solidFill>
                <a:latin typeface="Ultra"/>
                <a:ea typeface="Ultra"/>
                <a:cs typeface="Ultra"/>
                <a:sym typeface="Ultra"/>
              </a:rPr>
              <a:t>A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3653915" y="3197078"/>
            <a:ext cx="221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Applicability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3653915" y="3989688"/>
            <a:ext cx="221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7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Does this policy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7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directly affect you?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6202068" y="2282678"/>
            <a:ext cx="97500" cy="2438400"/>
          </a:xfrm>
          <a:prstGeom prst="rect">
            <a:avLst/>
          </a:prstGeom>
          <a:solidFill>
            <a:srgbClr val="0AA65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6445908" y="2465558"/>
            <a:ext cx="2218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AA65D"/>
                </a:solidFill>
                <a:latin typeface="Ultra"/>
                <a:ea typeface="Ultra"/>
                <a:cs typeface="Ultra"/>
                <a:sym typeface="Ultra"/>
              </a:rPr>
              <a:t>R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6445908" y="3197078"/>
            <a:ext cx="221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Representation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6445908" y="3989688"/>
            <a:ext cx="221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7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Is your community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7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structurally underheard?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8994036" y="2282678"/>
            <a:ext cx="97500" cy="2438400"/>
          </a:xfrm>
          <a:prstGeom prst="rect">
            <a:avLst/>
          </a:prstGeom>
          <a:solidFill>
            <a:srgbClr val="F2BB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9237876" y="2465558"/>
            <a:ext cx="2218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2BB16"/>
                </a:solidFill>
                <a:latin typeface="Ultra"/>
                <a:ea typeface="Ultra"/>
                <a:cs typeface="Ultra"/>
                <a:sym typeface="Ultra"/>
              </a:rPr>
              <a:t>E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9237876" y="3197078"/>
            <a:ext cx="221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Entry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9237876" y="3989688"/>
            <a:ext cx="221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7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Do language or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7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barriers block you?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618104" y="2282678"/>
            <a:ext cx="97500" cy="2438400"/>
          </a:xfrm>
          <a:prstGeom prst="rect">
            <a:avLst/>
          </a:prstGeom>
          <a:solidFill>
            <a:srgbClr val="D94A3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861944" y="2465558"/>
            <a:ext cx="2218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D94A3D"/>
                </a:solidFill>
                <a:latin typeface="Ultra"/>
                <a:ea typeface="Ultra"/>
                <a:cs typeface="Ultra"/>
                <a:sym typeface="Ultra"/>
              </a:rPr>
              <a:t>F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861944" y="3197078"/>
            <a:ext cx="221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Fatige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861944" y="3989688"/>
            <a:ext cx="221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7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Have you been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7" u="none" cap="none" strike="noStrike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asked too often?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1324375" y="5608125"/>
            <a:ext cx="898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baseline="-25000" lang="en-US" sz="3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19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 =  </a:t>
            </a:r>
            <a:r>
              <a:rPr b="1" lang="en-US" sz="1900">
                <a:solidFill>
                  <a:srgbClr val="D94A3D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b="1" baseline="-25000" lang="en-US" sz="300">
                <a:solidFill>
                  <a:srgbClr val="D94A3D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9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r>
              <a:rPr lang="en-US" sz="19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[ (</a:t>
            </a:r>
            <a:r>
              <a:rPr b="1" lang="en-US" sz="1900">
                <a:solidFill>
                  <a:srgbClr val="0AA65D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9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× 0.4 ) + (</a:t>
            </a:r>
            <a:r>
              <a:rPr b="1" lang="en-US" sz="1900">
                <a:solidFill>
                  <a:srgbClr val="0AA65D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baseline="-25000" lang="en-US" sz="300">
                <a:solidFill>
                  <a:srgbClr val="0AA65D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19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× 0.6 ) ] × </a:t>
            </a:r>
            <a:r>
              <a:rPr b="1" lang="en-US" sz="1900">
                <a:solidFill>
                  <a:srgbClr val="F2BB16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baseline="-25000" lang="en-US" sz="300">
                <a:solidFill>
                  <a:srgbClr val="F2BB16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1900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838047" y="739724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Demo</a:t>
            </a:r>
            <a:endParaRPr/>
          </a:p>
        </p:txBody>
      </p:sp>
      <p:pic>
        <p:nvPicPr>
          <p:cNvPr id="159" name="Google Shape;159;p22" title="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815165" y="676825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Creating</a:t>
            </a:r>
            <a:r>
              <a:rPr i="1" lang="en-US" sz="3600">
                <a:solidFill>
                  <a:srgbClr val="F2BB16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i="1" lang="en-US" sz="3600">
                <a:solidFill>
                  <a:srgbClr val="0CA65D"/>
                </a:solidFill>
                <a:latin typeface="Ultra"/>
                <a:ea typeface="Ultra"/>
                <a:cs typeface="Ultra"/>
                <a:sym typeface="Ultra"/>
              </a:rPr>
              <a:t>value</a:t>
            </a:r>
            <a:r>
              <a:rPr i="1" lang="en-US" sz="3600">
                <a:solidFill>
                  <a:srgbClr val="F2BB16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i="1" lang="en-US" sz="36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and</a:t>
            </a:r>
            <a:r>
              <a:rPr i="1" lang="en-US" sz="3600">
                <a:solidFill>
                  <a:srgbClr val="F2BB16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i="1" lang="en-US" sz="3600">
                <a:solidFill>
                  <a:srgbClr val="D94A3D"/>
                </a:solidFill>
                <a:latin typeface="Ultra"/>
                <a:ea typeface="Ultra"/>
                <a:cs typeface="Ultra"/>
                <a:sym typeface="Ultra"/>
              </a:rPr>
              <a:t>incentives</a:t>
            </a:r>
            <a:endParaRPr>
              <a:solidFill>
                <a:srgbClr val="D94A3D"/>
              </a:solidFill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777" y="1820500"/>
            <a:ext cx="7444875" cy="457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815187" y="739721"/>
            <a:ext cx="10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We</a:t>
            </a:r>
            <a:r>
              <a:rPr b="0" i="0" lang="en-US" sz="36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 </a:t>
            </a:r>
            <a:r>
              <a:rPr lang="en-US" sz="3600">
                <a:solidFill>
                  <a:srgbClr val="0AA65D"/>
                </a:solidFill>
                <a:latin typeface="Ultra"/>
                <a:ea typeface="Ultra"/>
                <a:cs typeface="Ultra"/>
                <a:sym typeface="Ultra"/>
              </a:rPr>
              <a:t>empower  </a:t>
            </a:r>
            <a:r>
              <a:rPr lang="en-US" sz="3600">
                <a:solidFill>
                  <a:srgbClr val="F2BB16"/>
                </a:solidFill>
                <a:latin typeface="Ultra"/>
                <a:ea typeface="Ultra"/>
                <a:cs typeface="Ultra"/>
                <a:sym typeface="Ultra"/>
              </a:rPr>
              <a:t>communities</a:t>
            </a:r>
            <a:endParaRPr>
              <a:solidFill>
                <a:srgbClr val="F2BB16"/>
              </a:solidFill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78027" y="2169604"/>
            <a:ext cx="246888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815187" y="5004244"/>
            <a:ext cx="2194560" cy="249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Bruno</a:t>
            </a:r>
            <a:endParaRPr b="0" i="0" sz="1400" u="none" cap="none" strike="noStrike">
              <a:solidFill>
                <a:srgbClr val="404040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815187" y="5370004"/>
            <a:ext cx="2194560" cy="17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CEO</a:t>
            </a:r>
            <a:endParaRPr b="0" i="0" sz="1000" u="none" cap="none" strike="noStrike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3466947" y="2169604"/>
            <a:ext cx="246888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am-member2.png" id="177" name="Google Shape;177;p24"/>
          <p:cNvPicPr preferRelativeResize="0"/>
          <p:nvPr/>
        </p:nvPicPr>
        <p:blipFill rotWithShape="1">
          <a:blip r:embed="rId3">
            <a:alphaModFix/>
          </a:blip>
          <a:srcRect b="13265" l="0" r="0" t="0"/>
          <a:stretch/>
        </p:blipFill>
        <p:spPr>
          <a:xfrm>
            <a:off x="815187" y="2478214"/>
            <a:ext cx="219456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 txBox="1"/>
          <p:nvPr/>
        </p:nvSpPr>
        <p:spPr>
          <a:xfrm>
            <a:off x="3604107" y="5004244"/>
            <a:ext cx="2194560" cy="249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Abhirup</a:t>
            </a:r>
            <a:endParaRPr b="0" i="0" sz="1400" u="none" cap="none" strike="noStrike">
              <a:solidFill>
                <a:srgbClr val="404040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3604107" y="5370004"/>
            <a:ext cx="2194560" cy="17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Tech Lead</a:t>
            </a:r>
            <a:endParaRPr b="0" i="0" sz="1000" u="none" cap="none" strike="noStrike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6255867" y="2169604"/>
            <a:ext cx="246888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am-member3.png" id="181" name="Google Shape;181;p24"/>
          <p:cNvPicPr preferRelativeResize="0"/>
          <p:nvPr/>
        </p:nvPicPr>
        <p:blipFill rotWithShape="1">
          <a:blip r:embed="rId4">
            <a:alphaModFix/>
          </a:blip>
          <a:srcRect b="27351" l="-764" r="11280" t="0"/>
          <a:stretch/>
        </p:blipFill>
        <p:spPr>
          <a:xfrm>
            <a:off x="6636654" y="2478214"/>
            <a:ext cx="1707305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/>
          <p:nvPr/>
        </p:nvSpPr>
        <p:spPr>
          <a:xfrm>
            <a:off x="6393027" y="5004244"/>
            <a:ext cx="2194560" cy="249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Miguel</a:t>
            </a:r>
            <a:endParaRPr b="0" i="0" sz="1400" u="none" cap="none" strike="noStrike">
              <a:solidFill>
                <a:srgbClr val="404040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6393027" y="5370004"/>
            <a:ext cx="2194560" cy="17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Design</a:t>
            </a:r>
            <a:endParaRPr b="0" i="0" sz="1000" u="none" cap="none" strike="noStrike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9044787" y="2169604"/>
            <a:ext cx="2468880" cy="365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am-member4.jpg" id="185" name="Google Shape;185;p24"/>
          <p:cNvPicPr preferRelativeResize="0"/>
          <p:nvPr/>
        </p:nvPicPr>
        <p:blipFill rotWithShape="1">
          <a:blip r:embed="rId5">
            <a:alphaModFix/>
          </a:blip>
          <a:srcRect b="5816" l="5590" r="4975" t="6800"/>
          <a:stretch/>
        </p:blipFill>
        <p:spPr>
          <a:xfrm>
            <a:off x="3482035" y="2343910"/>
            <a:ext cx="2449810" cy="227933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9181947" y="5004244"/>
            <a:ext cx="2194560" cy="249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José</a:t>
            </a:r>
            <a:endParaRPr b="0" i="0" sz="1400" u="none" cap="none" strike="noStrike">
              <a:solidFill>
                <a:srgbClr val="404040"/>
              </a:solidFill>
              <a:latin typeface="Ultra"/>
              <a:ea typeface="Ultra"/>
              <a:cs typeface="Ultra"/>
              <a:sym typeface="Ultra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9181947" y="5370004"/>
            <a:ext cx="2194560" cy="17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  <a:endParaRPr b="0" i="0" sz="1000" u="none" cap="none" strike="noStrike"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team-member1.png" id="188" name="Google Shape;188;p24"/>
          <p:cNvPicPr preferRelativeResize="0"/>
          <p:nvPr/>
        </p:nvPicPr>
        <p:blipFill rotWithShape="1">
          <a:blip r:embed="rId6">
            <a:alphaModFix/>
          </a:blip>
          <a:srcRect b="22768" l="0" r="0" t="0"/>
          <a:stretch/>
        </p:blipFill>
        <p:spPr>
          <a:xfrm>
            <a:off x="9181947" y="2443924"/>
            <a:ext cx="2194560" cy="1977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25"/>
          <p:cNvCxnSpPr/>
          <p:nvPr/>
        </p:nvCxnSpPr>
        <p:spPr>
          <a:xfrm>
            <a:off x="777240" y="1426464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0AA65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5" name="Google Shape;195;p25"/>
          <p:cNvSpPr txBox="1"/>
          <p:nvPr/>
        </p:nvSpPr>
        <p:spPr>
          <a:xfrm>
            <a:off x="777250" y="1700775"/>
            <a:ext cx="54513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Making participation </a:t>
            </a:r>
            <a:r>
              <a:rPr b="0" i="0" lang="en-US" sz="4200" u="none" cap="none" strike="noStrike">
                <a:solidFill>
                  <a:srgbClr val="0AA65D"/>
                </a:solidFill>
                <a:latin typeface="Ultra"/>
                <a:ea typeface="Ultra"/>
                <a:cs typeface="Ultra"/>
                <a:sym typeface="Ultra"/>
              </a:rPr>
              <a:t>proactive</a:t>
            </a:r>
            <a:r>
              <a:rPr b="0" i="0" lang="en-US" sz="4200" u="none" cap="none" strike="noStrike">
                <a:solidFill>
                  <a:srgbClr val="FFFFFF"/>
                </a:solidFill>
                <a:latin typeface="Ultra"/>
                <a:ea typeface="Ultra"/>
                <a:cs typeface="Ultra"/>
                <a:sym typeface="Ultra"/>
              </a:rPr>
              <a:t>, </a:t>
            </a:r>
            <a:r>
              <a:rPr b="0" i="0" lang="en-US" sz="42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  <a:t>not reactive.</a:t>
            </a:r>
            <a:br>
              <a:rPr b="0" i="0" lang="en-US" sz="4200" u="none" cap="none" strike="noStrike">
                <a:solidFill>
                  <a:srgbClr val="404040"/>
                </a:solidFill>
                <a:latin typeface="Ultra"/>
                <a:ea typeface="Ultra"/>
                <a:cs typeface="Ultra"/>
                <a:sym typeface="Ultra"/>
              </a:rPr>
            </a:br>
            <a:endParaRPr/>
          </a:p>
        </p:txBody>
      </p:sp>
      <p:pic>
        <p:nvPicPr>
          <p:cNvPr id="196" name="Google Shape;1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2063" y="1707925"/>
            <a:ext cx="3175000" cy="31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